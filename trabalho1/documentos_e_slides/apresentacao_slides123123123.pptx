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87552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 b="1">
                <a:solidFill>
                  <a:srgbClr val="5EEAD4"/>
                </a:solidFill>
                <a:latin typeface="Calibri"/>
              </a:defRPr>
            </a:pPr>
            <a:r>
              <a:rPr dirty="0"/>
              <a:t>SISTEMAS DISTRIBUÍDOS 1 — TRABALHO PRÁTICO 1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Avaliação</a:t>
            </a:r>
            <a:r>
              <a:rPr dirty="0"/>
              <a:t> de </a:t>
            </a:r>
            <a:r>
              <a:rPr dirty="0" err="1"/>
              <a:t>Desempenho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/>
            </a:r>
            <a:br>
              <a:rPr dirty="0"/>
            </a:br>
            <a:r>
              <a:rPr dirty="0" err="1"/>
              <a:t>Aplicação</a:t>
            </a:r>
            <a:r>
              <a:rPr dirty="0"/>
              <a:t> CRUD sob </a:t>
            </a:r>
            <a:r>
              <a:rPr dirty="0" err="1"/>
              <a:t>Carga</a:t>
            </a:r>
            <a:r>
              <a:rPr dirty="0"/>
              <a:t> </a:t>
            </a:r>
            <a:r>
              <a:rPr dirty="0" err="1"/>
              <a:t>Concorrente</a:t>
            </a:r>
            <a:endParaRPr dirty="0"/>
          </a:p>
          <a:p>
            <a:pPr>
              <a:spcAft>
                <a:spcPts val="44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com Python (Flask), PostgreSQL e Apache JMeter</a:t>
            </a:r>
            <a:br>
              <a:rPr dirty="0"/>
            </a:br>
            <a:r>
              <a:rPr dirty="0" err="1"/>
              <a:t>Cenários</a:t>
            </a:r>
            <a:r>
              <a:rPr dirty="0"/>
              <a:t> de </a:t>
            </a:r>
            <a:r>
              <a:rPr dirty="0" err="1"/>
              <a:t>leitura</a:t>
            </a:r>
            <a:r>
              <a:rPr dirty="0"/>
              <a:t>/</a:t>
            </a:r>
            <a:r>
              <a:rPr dirty="0" err="1"/>
              <a:t>escrita</a:t>
            </a:r>
            <a:r>
              <a:rPr dirty="0"/>
              <a:t>, </a:t>
            </a:r>
            <a:r>
              <a:rPr dirty="0" err="1"/>
              <a:t>redução</a:t>
            </a:r>
            <a:r>
              <a:rPr dirty="0"/>
              <a:t> de dataset (100k </a:t>
            </a:r>
            <a:r>
              <a:rPr dirty="0" err="1"/>
              <a:t>vs</a:t>
            </a:r>
            <a:r>
              <a:rPr dirty="0"/>
              <a:t> 20k) e </a:t>
            </a:r>
            <a:r>
              <a:rPr dirty="0" err="1"/>
              <a:t>impacto</a:t>
            </a:r>
            <a:r>
              <a:rPr dirty="0"/>
              <a:t> de </a:t>
            </a:r>
            <a:r>
              <a:rPr dirty="0" err="1"/>
              <a:t>índices</a:t>
            </a:r>
            <a:endParaRPr dirty="0"/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Aluno</a:t>
            </a:r>
            <a:r>
              <a:rPr dirty="0"/>
              <a:t>: </a:t>
            </a:r>
            <a:r>
              <a:rPr lang="pt-BR" dirty="0" smtClean="0"/>
              <a:t>Heitor Argenta Preigschadt</a:t>
            </a:r>
            <a:r>
              <a:rPr dirty="0" smtClean="0"/>
              <a:t>•   </a:t>
            </a:r>
            <a:r>
              <a:rPr dirty="0" err="1"/>
              <a:t>Outubro</a:t>
            </a:r>
            <a:r>
              <a:rPr dirty="0"/>
              <a:t>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Objetivo e Escopo do Trabalho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que foi proposto no enunciado da disciplina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23775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3A8A"/>
                </a:solidFill>
                <a:latin typeface="Calibri"/>
              </a:defRPr>
            </a:pPr>
            <a:r>
              <a:rPr dirty="0"/>
              <a:t>Parte 1 — </a:t>
            </a:r>
            <a:r>
              <a:rPr dirty="0" err="1"/>
              <a:t>Projeto</a:t>
            </a:r>
            <a:r>
              <a:rPr dirty="0"/>
              <a:t> e </a:t>
            </a:r>
            <a:r>
              <a:rPr dirty="0" err="1"/>
              <a:t>Implementação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Desenvolver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CRUD </a:t>
            </a:r>
            <a:r>
              <a:rPr dirty="0" err="1"/>
              <a:t>completa</a:t>
            </a:r>
            <a:r>
              <a:rPr dirty="0"/>
              <a:t> (</a:t>
            </a:r>
            <a:r>
              <a:rPr dirty="0" err="1"/>
              <a:t>Cliente</a:t>
            </a:r>
            <a:r>
              <a:rPr dirty="0"/>
              <a:t> + </a:t>
            </a:r>
            <a:r>
              <a:rPr dirty="0" err="1"/>
              <a:t>Servidor</a:t>
            </a:r>
            <a:r>
              <a:rPr dirty="0"/>
              <a:t> Web + </a:t>
            </a:r>
            <a:r>
              <a:rPr dirty="0" err="1"/>
              <a:t>Banco</a:t>
            </a:r>
            <a:r>
              <a:rPr dirty="0"/>
              <a:t> de Dados).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• Popular o </a:t>
            </a:r>
            <a:r>
              <a:rPr dirty="0" err="1"/>
              <a:t>banco</a:t>
            </a:r>
            <a:r>
              <a:rPr dirty="0"/>
              <a:t> de dados com um dataset de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50.000 </a:t>
            </a:r>
            <a:r>
              <a:rPr dirty="0" err="1"/>
              <a:t>registros</a:t>
            </a:r>
            <a:r>
              <a:rPr dirty="0"/>
              <a:t> (</a:t>
            </a:r>
            <a:r>
              <a:rPr dirty="0" err="1" smtClean="0"/>
              <a:t>utiliz</a:t>
            </a:r>
            <a:r>
              <a:rPr lang="pt-BR" dirty="0" smtClean="0"/>
              <a:t>ei</a:t>
            </a:r>
            <a:r>
              <a:rPr dirty="0" smtClean="0"/>
              <a:t> </a:t>
            </a:r>
            <a:r>
              <a:rPr dirty="0"/>
              <a:t>100.000 </a:t>
            </a:r>
            <a:r>
              <a:rPr dirty="0" err="1"/>
              <a:t>registros</a:t>
            </a:r>
            <a:r>
              <a:rPr dirty="0"/>
              <a:t>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Definir</a:t>
            </a:r>
            <a:r>
              <a:rPr dirty="0"/>
              <a:t> a </a:t>
            </a:r>
            <a:r>
              <a:rPr dirty="0" err="1"/>
              <a:t>arquitetura</a:t>
            </a:r>
            <a:r>
              <a:rPr dirty="0"/>
              <a:t> da </a:t>
            </a:r>
            <a:r>
              <a:rPr dirty="0" err="1"/>
              <a:t>solução</a:t>
            </a:r>
            <a:r>
              <a:rPr dirty="0"/>
              <a:t> e </a:t>
            </a:r>
            <a:r>
              <a:rPr dirty="0" err="1"/>
              <a:t>preparar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cenários</a:t>
            </a:r>
            <a:r>
              <a:rPr dirty="0"/>
              <a:t> de </a:t>
            </a:r>
            <a:r>
              <a:rPr dirty="0" err="1"/>
              <a:t>carga</a:t>
            </a:r>
            <a:r>
              <a:rPr dirty="0"/>
              <a:t> </a:t>
            </a:r>
            <a:r>
              <a:rPr dirty="0" err="1"/>
              <a:t>concorrente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ferramenta</a:t>
            </a:r>
            <a:r>
              <a:rPr dirty="0"/>
              <a:t> de </a:t>
            </a:r>
            <a:r>
              <a:rPr dirty="0" err="1"/>
              <a:t>teste</a:t>
            </a:r>
            <a:r>
              <a:rPr dirty="0"/>
              <a:t> de </a:t>
            </a:r>
            <a:r>
              <a:rPr dirty="0" err="1"/>
              <a:t>carga</a:t>
            </a:r>
            <a:r>
              <a:rPr dirty="0"/>
              <a:t> (Apache JMeter) </a:t>
            </a:r>
            <a:r>
              <a:rPr dirty="0" err="1"/>
              <a:t>simulando</a:t>
            </a:r>
            <a:r>
              <a:rPr dirty="0"/>
              <a:t>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simultâneos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D9488"/>
                </a:solidFill>
                <a:latin typeface="Calibri"/>
              </a:defRPr>
            </a:pPr>
            <a:r>
              <a:rPr dirty="0"/>
              <a:t>Parte 2 — </a:t>
            </a:r>
            <a:r>
              <a:rPr dirty="0" err="1"/>
              <a:t>Experimentos</a:t>
            </a:r>
            <a:r>
              <a:rPr dirty="0"/>
              <a:t> e </a:t>
            </a:r>
            <a:r>
              <a:rPr dirty="0" err="1"/>
              <a:t>Perguntas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Avaliar</a:t>
            </a:r>
            <a:r>
              <a:rPr dirty="0"/>
              <a:t> o </a:t>
            </a:r>
            <a:r>
              <a:rPr dirty="0" err="1"/>
              <a:t>desempenho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3 </a:t>
            </a:r>
            <a:r>
              <a:rPr dirty="0" err="1"/>
              <a:t>proporções</a:t>
            </a:r>
            <a:r>
              <a:rPr dirty="0"/>
              <a:t> de </a:t>
            </a:r>
            <a:r>
              <a:rPr dirty="0" err="1"/>
              <a:t>Leitura</a:t>
            </a:r>
            <a:r>
              <a:rPr dirty="0"/>
              <a:t> (L) e </a:t>
            </a:r>
            <a:r>
              <a:rPr dirty="0" err="1"/>
              <a:t>Escrita</a:t>
            </a:r>
            <a:r>
              <a:rPr dirty="0"/>
              <a:t> (E):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     A) 50% </a:t>
            </a:r>
            <a:r>
              <a:rPr dirty="0" err="1"/>
              <a:t>Leituras</a:t>
            </a:r>
            <a:r>
              <a:rPr dirty="0"/>
              <a:t> e 50% </a:t>
            </a:r>
            <a:r>
              <a:rPr dirty="0" err="1"/>
              <a:t>Escritas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     B) 75% </a:t>
            </a:r>
            <a:r>
              <a:rPr dirty="0" err="1"/>
              <a:t>Leituras</a:t>
            </a:r>
            <a:r>
              <a:rPr dirty="0"/>
              <a:t> e 25% </a:t>
            </a:r>
            <a:r>
              <a:rPr dirty="0" err="1"/>
              <a:t>Escritas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     C) 25% </a:t>
            </a:r>
            <a:r>
              <a:rPr dirty="0" err="1"/>
              <a:t>Leituras</a:t>
            </a:r>
            <a:r>
              <a:rPr dirty="0"/>
              <a:t> e 75% </a:t>
            </a:r>
            <a:r>
              <a:rPr dirty="0" err="1"/>
              <a:t>Escritas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• Responder com base </a:t>
            </a:r>
            <a:r>
              <a:rPr dirty="0" err="1"/>
              <a:t>nos</a:t>
            </a:r>
            <a:r>
              <a:rPr dirty="0"/>
              <a:t> testes: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     1.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acontece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reduzir</a:t>
            </a:r>
            <a:r>
              <a:rPr dirty="0"/>
              <a:t> o dataset para 20k </a:t>
            </a:r>
            <a:r>
              <a:rPr dirty="0" err="1"/>
              <a:t>registros</a:t>
            </a:r>
            <a:r>
              <a:rPr dirty="0"/>
              <a:t>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     2. </a:t>
            </a:r>
            <a:r>
              <a:rPr dirty="0" err="1"/>
              <a:t>Qual</a:t>
            </a:r>
            <a:r>
              <a:rPr dirty="0"/>
              <a:t> o </a:t>
            </a:r>
            <a:r>
              <a:rPr dirty="0" err="1"/>
              <a:t>efeito</a:t>
            </a:r>
            <a:r>
              <a:rPr dirty="0"/>
              <a:t> da </a:t>
            </a:r>
            <a:r>
              <a:rPr dirty="0" err="1"/>
              <a:t>adição</a:t>
            </a:r>
            <a:r>
              <a:rPr dirty="0"/>
              <a:t> de </a:t>
            </a:r>
            <a:r>
              <a:rPr dirty="0" err="1"/>
              <a:t>índices</a:t>
            </a:r>
            <a:r>
              <a:rPr dirty="0"/>
              <a:t> no BD? </a:t>
            </a:r>
            <a:r>
              <a:rPr dirty="0" err="1"/>
              <a:t>Qual</a:t>
            </a:r>
            <a:r>
              <a:rPr dirty="0"/>
              <a:t> </a:t>
            </a:r>
            <a:r>
              <a:rPr dirty="0" err="1"/>
              <a:t>escolher</a:t>
            </a:r>
            <a:r>
              <a:rPr dirty="0"/>
              <a:t>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rPr dirty="0"/>
              <a:t>     3. Como a </a:t>
            </a:r>
            <a:r>
              <a:rPr dirty="0" err="1"/>
              <a:t>escolha</a:t>
            </a:r>
            <a:r>
              <a:rPr dirty="0"/>
              <a:t> entre SQL e NoSQL </a:t>
            </a:r>
            <a:r>
              <a:rPr dirty="0" err="1"/>
              <a:t>impacta</a:t>
            </a:r>
            <a:r>
              <a:rPr dirty="0"/>
              <a:t> o </a:t>
            </a:r>
            <a:r>
              <a:rPr dirty="0" err="1"/>
              <a:t>sistema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A Aplicação Desenvolvida (CRUD)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Sistema de cadastro e consulta de pessoas em Python Flask +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Modelo de Dados (Tabela public.pessoas)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id (INTEGER PRIMARY KEY, auto-incremento via Sequence)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nome (VARCHAR 150) e email (VARCHAR 200)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telefone (VARCHAR 30) e cidade (VARCHAR 100)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data_cadastro (DATE) e status (ativo, inativo, pendente, bloqueado)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94960" cy="24231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895344"/>
            <a:ext cx="4992624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Geração da Massa de Dados (pessoas.py)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Script gerador próprio em Python.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Dataset principal: 100.000 registros importados via \copy.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Dataset reduzido: 20.000 registros para o experimento comparativo.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Dados realistas distribuídos entre diversas cidades e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Endpoints da API </a:t>
            </a:r>
            <a:r>
              <a:rPr dirty="0" err="1"/>
              <a:t>Utilizados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Testes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Leitura</a:t>
            </a:r>
            <a:r>
              <a:rPr dirty="0"/>
              <a:t>: GET /api/</a:t>
            </a:r>
            <a:r>
              <a:rPr dirty="0" err="1"/>
              <a:t>pessoas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lista</a:t>
            </a:r>
            <a:r>
              <a:rPr dirty="0"/>
              <a:t> de </a:t>
            </a:r>
            <a:r>
              <a:rPr dirty="0" err="1"/>
              <a:t>pessoas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JSON (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: 100 </a:t>
            </a:r>
            <a:r>
              <a:rPr dirty="0" err="1"/>
              <a:t>registros</a:t>
            </a:r>
            <a:r>
              <a:rPr dirty="0"/>
              <a:t>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Ordenação</a:t>
            </a:r>
            <a:r>
              <a:rPr dirty="0"/>
              <a:t>: ORDER BY id DESC LIMIT 100.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Suporta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textual via </a:t>
            </a:r>
            <a:r>
              <a:rPr dirty="0" err="1"/>
              <a:t>parâmetro</a:t>
            </a:r>
            <a:r>
              <a:rPr dirty="0"/>
              <a:t> ?q=</a:t>
            </a:r>
            <a:r>
              <a:rPr dirty="0" err="1"/>
              <a:t>termo</a:t>
            </a:r>
            <a:r>
              <a:rPr dirty="0"/>
              <a:t> (</a:t>
            </a:r>
            <a:r>
              <a:rPr dirty="0" err="1"/>
              <a:t>usando</a:t>
            </a:r>
            <a:r>
              <a:rPr dirty="0"/>
              <a:t> ILIKE).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Escrita</a:t>
            </a:r>
            <a:r>
              <a:rPr dirty="0"/>
              <a:t>: POST /api/</a:t>
            </a:r>
            <a:r>
              <a:rPr dirty="0" err="1"/>
              <a:t>pessoas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Recebe</a:t>
            </a:r>
            <a:r>
              <a:rPr dirty="0"/>
              <a:t> payload JSON com dados de </a:t>
            </a:r>
            <a:r>
              <a:rPr dirty="0" err="1"/>
              <a:t>uma</a:t>
            </a:r>
            <a:r>
              <a:rPr dirty="0"/>
              <a:t> nova </a:t>
            </a:r>
            <a:r>
              <a:rPr dirty="0" err="1"/>
              <a:t>pessoa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Executa</a:t>
            </a:r>
            <a:r>
              <a:rPr dirty="0"/>
              <a:t> INSERT INTO </a:t>
            </a:r>
            <a:r>
              <a:rPr dirty="0" err="1"/>
              <a:t>public.pessoas</a:t>
            </a:r>
            <a:r>
              <a:rPr dirty="0"/>
              <a:t> ... RETURNING id.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Realiza</a:t>
            </a:r>
            <a:r>
              <a:rPr dirty="0"/>
              <a:t> commit </a:t>
            </a:r>
            <a:r>
              <a:rPr dirty="0" err="1"/>
              <a:t>imediato</a:t>
            </a:r>
            <a:r>
              <a:rPr dirty="0"/>
              <a:t> e </a:t>
            </a:r>
            <a:r>
              <a:rPr dirty="0" err="1"/>
              <a:t>retorna</a:t>
            </a:r>
            <a:r>
              <a:rPr dirty="0"/>
              <a:t> HTTP 201 (Created).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Outras</a:t>
            </a:r>
            <a:r>
              <a:rPr dirty="0"/>
              <a:t> </a:t>
            </a:r>
            <a:r>
              <a:rPr dirty="0" err="1"/>
              <a:t>operações</a:t>
            </a:r>
            <a:r>
              <a:rPr dirty="0"/>
              <a:t> </a:t>
            </a:r>
            <a:r>
              <a:rPr dirty="0" err="1"/>
              <a:t>disponíveis</a:t>
            </a:r>
            <a:r>
              <a:rPr dirty="0"/>
              <a:t>: </a:t>
            </a:r>
            <a:r>
              <a:rPr dirty="0" err="1"/>
              <a:t>Edição</a:t>
            </a:r>
            <a:r>
              <a:rPr dirty="0"/>
              <a:t> (UPDATE) e </a:t>
            </a:r>
            <a:r>
              <a:rPr dirty="0" err="1"/>
              <a:t>Exclusão</a:t>
            </a:r>
            <a:r>
              <a:rPr dirty="0"/>
              <a:t> (DELETE).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Arquitetura da Solução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Organização cliente-servidor em 3 camadas e fluxo de comunicação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01752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017520" cy="960120"/>
          </a:xfrm>
          <a:prstGeom prst="roundRect">
            <a:avLst>
              <a:gd name="adj" fmla="val 3000"/>
            </a:avLst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307592"/>
            <a:ext cx="27980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Calibri"/>
              </a:defRPr>
            </a:pPr>
            <a:r>
              <a:rPr dirty="0"/>
              <a:t>CAMADA 1</a:t>
            </a:r>
          </a:p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Clientes</a:t>
            </a:r>
            <a:r>
              <a:rPr dirty="0"/>
              <a:t> (</a:t>
            </a:r>
            <a:r>
              <a:rPr dirty="0" err="1"/>
              <a:t>Carga</a:t>
            </a:r>
            <a:r>
              <a:rPr dirty="0"/>
              <a:t>)</a:t>
            </a:r>
          </a:p>
          <a:p>
            <a:pPr algn="ctr">
              <a:defRPr sz="1100">
                <a:solidFill>
                  <a:srgbClr val="E2E8F0"/>
                </a:solidFill>
                <a:latin typeface="Calibri"/>
              </a:defRPr>
            </a:pPr>
            <a:r>
              <a:rPr dirty="0"/>
              <a:t>Apache JMeter 5.6.3 /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651760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• 1.200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simultâneos</a:t>
            </a:r>
            <a:r>
              <a:rPr dirty="0"/>
              <a:t> </a:t>
            </a:r>
            <a:r>
              <a:rPr dirty="0" err="1"/>
              <a:t>disparando</a:t>
            </a:r>
            <a:r>
              <a:rPr dirty="0"/>
              <a:t> </a:t>
            </a:r>
            <a:r>
              <a:rPr dirty="0" err="1"/>
              <a:t>requisições</a:t>
            </a:r>
            <a:r>
              <a:rPr dirty="0"/>
              <a:t> </a:t>
            </a:r>
            <a:r>
              <a:rPr dirty="0" err="1"/>
              <a:t>concorrentes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• Ramp-up: 10 </a:t>
            </a:r>
            <a:r>
              <a:rPr dirty="0" err="1"/>
              <a:t>segundos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Simula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3 </a:t>
            </a:r>
            <a:r>
              <a:rPr dirty="0" err="1"/>
              <a:t>perfis</a:t>
            </a:r>
            <a:r>
              <a:rPr dirty="0"/>
              <a:t> de </a:t>
            </a:r>
            <a:r>
              <a:rPr dirty="0" err="1"/>
              <a:t>tráfego</a:t>
            </a:r>
            <a:r>
              <a:rPr dirty="0"/>
              <a:t>: 50/50, 75/25 e 25/75 (</a:t>
            </a:r>
            <a:r>
              <a:rPr dirty="0" err="1"/>
              <a:t>Leitura</a:t>
            </a:r>
            <a:r>
              <a:rPr dirty="0"/>
              <a:t>/</a:t>
            </a:r>
            <a:r>
              <a:rPr dirty="0" err="1"/>
              <a:t>Escrita</a:t>
            </a:r>
            <a:r>
              <a:rPr dirty="0"/>
              <a:t>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7" y="2423160"/>
            <a:ext cx="1078992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HTTP / REST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730752" y="2926080"/>
            <a:ext cx="969264" cy="347472"/>
          </a:xfrm>
          <a:prstGeom prst="left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3337560"/>
            <a:ext cx="12070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JSON</a:t>
            </a:r>
            <a:br/>
            <a:r>
              <a:t>Porta 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1234440"/>
            <a:ext cx="3017520" cy="3977639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64608" y="1234440"/>
            <a:ext cx="3017520" cy="96012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74336" y="1307592"/>
            <a:ext cx="279806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Calibri"/>
              </a:defRPr>
            </a:pPr>
            <a:r>
              <a:t>CAMADA 2</a:t>
            </a:r>
          </a:p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Servidor Web / API</a:t>
            </a:r>
          </a:p>
          <a:p>
            <a:pPr algn="ctr">
              <a:defRPr sz="1100">
                <a:solidFill>
                  <a:srgbClr val="E2E8F0"/>
                </a:solidFill>
                <a:latin typeface="Calibri"/>
              </a:defRPr>
            </a:pPr>
            <a:r>
              <a:t>Python 3.14 + Flask 3.1.3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331720"/>
            <a:ext cx="2651760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Leitura: GET /api/pessoas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Escrita: POST /api/pessoas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Comunicação Síncrona: abre e fecha 1 conexão por requisição via psycopg2.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423160"/>
            <a:ext cx="1078992" cy="384048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D9488"/>
                </a:solidFill>
              </a:defRPr>
            </a:pPr>
            <a:r>
              <a:t>TCP / SQL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8046720" y="2926080"/>
            <a:ext cx="969264" cy="347472"/>
          </a:xfrm>
          <a:prstGeom prst="left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3337560"/>
            <a:ext cx="12070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psycopg2</a:t>
            </a:r>
            <a:br/>
            <a:r>
              <a:t>Porta 5432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234440"/>
            <a:ext cx="2459736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80576" y="1234440"/>
            <a:ext cx="2459736" cy="960120"/>
          </a:xfrm>
          <a:prstGeom prst="roundRect">
            <a:avLst>
              <a:gd name="adj" fmla="val 3000"/>
            </a:avLst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0303" y="1307592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Calibri"/>
              </a:defRPr>
            </a:pPr>
            <a:r>
              <a:t>CAMADA 3</a:t>
            </a:r>
          </a:p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Banco de Dados</a:t>
            </a:r>
          </a:p>
          <a:p>
            <a:pPr algn="ctr">
              <a:defRPr sz="1100">
                <a:solidFill>
                  <a:srgbClr val="E2E8F0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5" y="2331720"/>
            <a:ext cx="2093976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Tabela public.pessoas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Datasets: 100k e 20k registros.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Índices B-Tree: cidade, data_cadastro e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3A8A"/>
                </a:solidFill>
                <a:latin typeface="Calibri"/>
              </a:defRPr>
            </a:pPr>
            <a:r>
              <a:t>Fluxo da Requisição:   1. JMeter envia HTTP (GET/POST)   →   2. Flask abre conexão no PostgreSQL   →   3. Banco executa SQL   →   4. Flask retorna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Metodologia e Cenários de Teste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9 baterias de teste no total (10.800 requisições analisadas)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rPr dirty="0" err="1"/>
              <a:t>Configuração</a:t>
            </a:r>
            <a:r>
              <a:rPr dirty="0"/>
              <a:t> do JMeter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1.200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simultâneos</a:t>
            </a:r>
            <a:r>
              <a:rPr dirty="0"/>
              <a:t> (threads)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teste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Ramp-up: 10 </a:t>
            </a:r>
            <a:r>
              <a:rPr dirty="0" err="1"/>
              <a:t>segundos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1 </a:t>
            </a:r>
            <a:r>
              <a:rPr dirty="0" err="1"/>
              <a:t>iteração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thread (1.200 </a:t>
            </a:r>
            <a:r>
              <a:rPr dirty="0" err="1"/>
              <a:t>requisições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bateria</a:t>
            </a:r>
            <a:r>
              <a:rPr dirty="0"/>
              <a:t>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coletadas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Taxa de </a:t>
            </a:r>
            <a:r>
              <a:rPr dirty="0" err="1"/>
              <a:t>Erro</a:t>
            </a:r>
            <a:r>
              <a:rPr dirty="0"/>
              <a:t> (%)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Tempo </a:t>
            </a:r>
            <a:r>
              <a:rPr dirty="0" err="1"/>
              <a:t>Médio</a:t>
            </a:r>
            <a:r>
              <a:rPr dirty="0"/>
              <a:t> de </a:t>
            </a:r>
            <a:r>
              <a:rPr dirty="0" err="1"/>
              <a:t>Resposta</a:t>
            </a:r>
            <a:r>
              <a:rPr dirty="0"/>
              <a:t> (ms)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Percentil</a:t>
            </a:r>
            <a:r>
              <a:rPr dirty="0"/>
              <a:t> 95 / P95 (ms)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</a:t>
            </a:r>
            <a:r>
              <a:rPr dirty="0" err="1"/>
              <a:t>Vazão</a:t>
            </a:r>
            <a:r>
              <a:rPr dirty="0"/>
              <a:t> / Throughput (req/s)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3 Perfis de Carga (L / 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A (50% L / 50%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- 600 clientes lendo (GET)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- 600 clientes escrevendo (POST)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B (75% L / 25%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- 900 clientes lendo (GET)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- 300 clientes escrevendo (POST)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Cenário C (25% L / 75%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- 300 clientes lendo (GET)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- 900 clientes escrevendo (POST)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3 Configurações do Banco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Variação 1 (Base Principal):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- 100.000 registros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Com índices B-Tree secundários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Variação 2 (Base Reduzida):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- 20.000 registros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Com índices B-Tree secundários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Variação 3 (Sem Índices):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- 100.000 registros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- Apenas chave primária (id)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5. Resultados Consolidados (9 Baterias)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Resumo completo das métricas coletadas pelo Apache JMeter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6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9441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1188720"/>
                <a:gridCol w="1188720"/>
                <a:gridCol w="1188720"/>
                <a:gridCol w="1280160"/>
                <a:gridCol w="1188720"/>
                <a:gridCol w="1310335"/>
              </a:tblGrid>
              <a:tr h="48463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Configuração do BD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Cenário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Leitura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Escrita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Total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Tempo Médio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P95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Vazão (req/s)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com índice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 (50% L / 50%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1.120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1.613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106,17 req/s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com índice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 (75% L / 25%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14,11%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14,25%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1.066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1.569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109,73 req/s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com índice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(25% L / 75% 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1.089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1.525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107,85 req/s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20k com índice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 (50% L / 50% 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7,33%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9,50%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8,42%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1.057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1.609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105,13 req/s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20k com índice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 (75% L / 25% 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10,44%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10,33%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1.058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1.540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108,30 req/s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20k com índice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(25% L / 75% 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4,00%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3,89%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3,92%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1.013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1.439 ms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107,58 req/s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sem índice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 (50% L / 50% 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7,00%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6,83%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6,92%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1.092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1.571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105,03 req/s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sem índice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 (75% L / 25% 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9,33%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9,83%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1.060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1.521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109,00 req/s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100k sem índice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(25% L / 75% 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8,00%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6,44%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6,83%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1.059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1.514 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108,03 req/s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6. Visão Gráfica: Taxa de Erros e Latência Média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Comparativo visual entre os 3 cenários e as 3 configurações do banco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7 / 12</a:t>
            </a:r>
          </a:p>
        </p:txBody>
      </p:sp>
      <p:pic>
        <p:nvPicPr>
          <p:cNvPr id="6" name="Picture 5" descr="chart_taxa_er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94960" cy="2997200"/>
          </a:xfrm>
          <a:prstGeom prst="rect">
            <a:avLst/>
          </a:prstGeom>
        </p:spPr>
      </p:pic>
      <p:pic>
        <p:nvPicPr>
          <p:cNvPr id="7" name="Picture 6" descr="chart_latencia_m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94960" cy="299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800600"/>
            <a:ext cx="11094415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4946904"/>
            <a:ext cx="10692079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1E3A8A"/>
                </a:solidFill>
                <a:latin typeface="Calibri"/>
              </a:defRPr>
            </a:pPr>
            <a:r>
              <a:t>Principais Observações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A Taxa de Erros variou bastante entre os cenários: foi mais alta no perfil B (75% Leitura, que trafega JSON com 100 registros por resposta) e mais baixa no perfil C (75% Escrita, que insere apenas 1 registro).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O Tempo Médio de Resposta ficou sempre próximo de ~1.010 ms a ~1.120 ms em todas as baterias.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7. Análise de Gargalo: Por que a Vazão travou em ~107 req/s?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teto de throughput foi idêntico em todas as 9 baterias de teste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8 / 12</a:t>
            </a:r>
          </a:p>
        </p:txBody>
      </p:sp>
      <p:pic>
        <p:nvPicPr>
          <p:cNvPr id="6" name="Picture 5" descr="chart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72266" y="1334506"/>
            <a:ext cx="5376672" cy="48006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0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64807" y="1472184"/>
            <a:ext cx="4974336" cy="3736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Gargalo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Camada</a:t>
            </a:r>
            <a:r>
              <a:rPr dirty="0"/>
              <a:t> de </a:t>
            </a:r>
            <a:r>
              <a:rPr dirty="0" err="1"/>
              <a:t>Aplicação</a:t>
            </a:r>
            <a:endParaRPr dirty="0"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Fato</a:t>
            </a:r>
            <a:r>
              <a:rPr dirty="0"/>
              <a:t> </a:t>
            </a:r>
            <a:r>
              <a:rPr dirty="0" err="1"/>
              <a:t>observado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dados: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   </a:t>
            </a:r>
            <a:r>
              <a:rPr dirty="0" smtClean="0"/>
              <a:t>Mud</a:t>
            </a:r>
            <a:r>
              <a:rPr lang="pt-BR" dirty="0" smtClean="0"/>
              <a:t>ei</a:t>
            </a:r>
            <a:r>
              <a:rPr dirty="0" smtClean="0"/>
              <a:t> </a:t>
            </a:r>
            <a:r>
              <a:rPr dirty="0"/>
              <a:t>o </a:t>
            </a:r>
            <a:r>
              <a:rPr dirty="0" err="1"/>
              <a:t>tamanho</a:t>
            </a:r>
            <a:r>
              <a:rPr dirty="0"/>
              <a:t> da base (100k → 20k), </a:t>
            </a:r>
            <a:r>
              <a:rPr dirty="0" err="1" smtClean="0"/>
              <a:t>tir</a:t>
            </a:r>
            <a:r>
              <a:rPr lang="pt-BR" dirty="0" smtClean="0"/>
              <a:t>ei</a:t>
            </a:r>
            <a:r>
              <a:rPr dirty="0" smtClean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índices</a:t>
            </a:r>
            <a:r>
              <a:rPr dirty="0"/>
              <a:t> e </a:t>
            </a:r>
            <a:r>
              <a:rPr dirty="0" smtClean="0"/>
              <a:t>mud</a:t>
            </a:r>
            <a:r>
              <a:rPr lang="pt-BR" dirty="0" smtClean="0"/>
              <a:t>ei</a:t>
            </a:r>
            <a:r>
              <a:rPr dirty="0" smtClean="0"/>
              <a:t> </a:t>
            </a:r>
            <a:r>
              <a:rPr dirty="0"/>
              <a:t>a </a:t>
            </a:r>
            <a:r>
              <a:rPr dirty="0" err="1"/>
              <a:t>proporção</a:t>
            </a:r>
            <a:r>
              <a:rPr dirty="0"/>
              <a:t> L/E, mas a </a:t>
            </a:r>
            <a:r>
              <a:rPr dirty="0" err="1"/>
              <a:t>vazão</a:t>
            </a:r>
            <a:r>
              <a:rPr dirty="0"/>
              <a:t> </a:t>
            </a:r>
            <a:r>
              <a:rPr dirty="0" err="1"/>
              <a:t>ficou</a:t>
            </a:r>
            <a:r>
              <a:rPr dirty="0"/>
              <a:t> </a:t>
            </a:r>
            <a:r>
              <a:rPr dirty="0" err="1"/>
              <a:t>sempre</a:t>
            </a:r>
            <a:r>
              <a:rPr dirty="0"/>
              <a:t> entre 105 e 110 req/s.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Causa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   1. </a:t>
            </a:r>
            <a:r>
              <a:rPr lang="pt-BR" dirty="0"/>
              <a:t>O Flask rodou com </a:t>
            </a:r>
            <a:r>
              <a:rPr lang="pt-BR" dirty="0" err="1"/>
              <a:t>threaded</a:t>
            </a:r>
            <a:r>
              <a:rPr lang="pt-BR" dirty="0"/>
              <a:t>=</a:t>
            </a:r>
            <a:r>
              <a:rPr lang="pt-BR" dirty="0" err="1"/>
              <a:t>True</a:t>
            </a:r>
            <a:r>
              <a:rPr lang="pt-BR" dirty="0"/>
              <a:t> (1 processo criando 1 thread por requisição, com I/O bloqueante).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 smtClean="0"/>
              <a:t>   </a:t>
            </a:r>
            <a:r>
              <a:rPr dirty="0"/>
              <a:t>2. </a:t>
            </a:r>
            <a:r>
              <a:rPr lang="pt-BR" dirty="0"/>
              <a:t>. Cada thread chama psycopg2.connect(), abrindo uma conexão TCP exclusiva com o PostgreSQL sem pool.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 smtClean="0"/>
              <a:t>   </a:t>
            </a:r>
            <a:r>
              <a:rPr dirty="0"/>
              <a:t>3. </a:t>
            </a:r>
            <a:r>
              <a:rPr lang="pt-BR" dirty="0"/>
              <a:t>Quando as threads simultâneas passam de 100, esbarram no limite do PostgreSQL (</a:t>
            </a:r>
            <a:r>
              <a:rPr lang="pt-BR" dirty="0" err="1"/>
              <a:t>max_connections</a:t>
            </a:r>
            <a:r>
              <a:rPr lang="pt-BR" dirty="0"/>
              <a:t> = 100).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 u="sng" dirty="0"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Conclusão</a:t>
            </a:r>
            <a:r>
              <a:rPr dirty="0"/>
              <a:t>: As </a:t>
            </a:r>
            <a:r>
              <a:rPr dirty="0" err="1"/>
              <a:t>requisições</a:t>
            </a:r>
            <a:r>
              <a:rPr dirty="0"/>
              <a:t> extras </a:t>
            </a:r>
            <a:r>
              <a:rPr dirty="0" err="1"/>
              <a:t>aguardavam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fila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falhavam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timeout, </a:t>
            </a:r>
            <a:r>
              <a:rPr dirty="0" err="1"/>
              <a:t>limitando</a:t>
            </a:r>
            <a:r>
              <a:rPr dirty="0"/>
              <a:t> a </a:t>
            </a:r>
            <a:r>
              <a:rPr dirty="0" err="1"/>
              <a:t>vazão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~107 req/s.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8. Pergunta 1: Redução do Dataset (100k → 20k)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que acontece com o desempenho se o banco for reduzido para 20.000 registros?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26463"/>
            <a:ext cx="499262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 err="1"/>
              <a:t>Comparativo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(Com </a:t>
            </a:r>
            <a:r>
              <a:rPr dirty="0" err="1"/>
              <a:t>Índices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Cenário</a:t>
            </a:r>
            <a:r>
              <a:rPr dirty="0"/>
              <a:t> A (50% L / 50%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Taxa de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caiu</a:t>
            </a:r>
            <a:r>
              <a:rPr dirty="0"/>
              <a:t> de 10,33% → 8,42%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Tempo </a:t>
            </a:r>
            <a:r>
              <a:rPr dirty="0" err="1"/>
              <a:t>médio</a:t>
            </a:r>
            <a:r>
              <a:rPr dirty="0"/>
              <a:t> </a:t>
            </a:r>
            <a:r>
              <a:rPr dirty="0" err="1"/>
              <a:t>caiu</a:t>
            </a:r>
            <a:r>
              <a:rPr dirty="0"/>
              <a:t> de 1.120 ms → 1.057 ms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Cenário</a:t>
            </a:r>
            <a:r>
              <a:rPr dirty="0"/>
              <a:t> B (75% L / 25%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Taxa de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caiu</a:t>
            </a:r>
            <a:r>
              <a:rPr dirty="0"/>
              <a:t> de 14,25% → 10,33%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Tempo </a:t>
            </a:r>
            <a:r>
              <a:rPr dirty="0" err="1"/>
              <a:t>médio</a:t>
            </a:r>
            <a:r>
              <a:rPr dirty="0"/>
              <a:t> </a:t>
            </a:r>
            <a:r>
              <a:rPr dirty="0" err="1"/>
              <a:t>caiu</a:t>
            </a:r>
            <a:r>
              <a:rPr dirty="0"/>
              <a:t> de 1.066 ms → 1.058 ms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Cenário</a:t>
            </a:r>
            <a:r>
              <a:rPr dirty="0"/>
              <a:t> C (25% L / 75% E):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Taxa de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caiu</a:t>
            </a:r>
            <a:r>
              <a:rPr dirty="0"/>
              <a:t> de 7,17% → 3,92% (</a:t>
            </a:r>
            <a:r>
              <a:rPr dirty="0" err="1"/>
              <a:t>redução</a:t>
            </a:r>
            <a:r>
              <a:rPr dirty="0"/>
              <a:t> de 45%!)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   - Tempo </a:t>
            </a:r>
            <a:r>
              <a:rPr dirty="0" err="1"/>
              <a:t>médio</a:t>
            </a:r>
            <a:r>
              <a:rPr dirty="0"/>
              <a:t> </a:t>
            </a:r>
            <a:r>
              <a:rPr dirty="0" err="1"/>
              <a:t>caiu</a:t>
            </a:r>
            <a:r>
              <a:rPr dirty="0"/>
              <a:t> de 1.089 ms → 1.013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426463"/>
            <a:ext cx="499262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Por que o desempenho melhorou?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Menor volume em memória (Cache Hit):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Com apenas 20.000 linhas (5x menor), a tabela inteira e seus índices cabem folgadamente na memória RAM do PostgreSQL (shared_buffers).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Menos I/O de disco: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As leituras e atualizações de índice sofrem menos espera de disco, liberando as conexões mais rápido.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Por que a vazão (req/s) não subiu?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Porque o limite de ~107 req/s era imposto pela abertura de conexões síncronas no Flask, mas o sistema ficou muito mais estável (menos erros).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9. Pergunta 2: Adição de Índices no Banco de Dados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 que aconteceu ao adicionar índices? Qual índice escolher? A consulta melhorou?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O que aconteceu nos testes?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Foram criados 3 índices B-Tree: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idx_pessoas_cidade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idx_pessoas_data_cadastro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idx_pessoas_status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Resultado (100k Com vs Sem Índice):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- 50/50: 10,33% vs 6,92% erro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- 75/25: 14,25% vs 9,83% erro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- 25/75: 7,17% vs 6,83% erro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Com índice o sistema teve MAIS erros!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1E3A8A"/>
                </a:solidFill>
                <a:latin typeface="Calibri"/>
              </a:defRPr>
            </a:pPr>
            <a:r>
              <a:t>Por que piorou e não ajudou?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Nas Leituras (Zero Ganho):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1. O JMeter enviou ?cidade=Manaus, mas a API lia ?q=termo (parâmetro foi ignorado e rodou ORDER BY id DESC LIMIT 100).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2. Mesmo usando ?q=, a query usa ILIKE '%termo%' (curinga no início), que ignora índices B-Tree e faz Sequential Scan.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Nas Escritas (Custo Extra):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Cada INSERT precisou atualizar a tabela + 3 árvores B-Tree + log WAL no disco, atrasando as transações.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1380744"/>
            <a:ext cx="31638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D9488"/>
                </a:solidFill>
                <a:latin typeface="Calibri"/>
              </a:defRPr>
            </a:pPr>
            <a:r>
              <a:t>Qual índice escolher então?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Caso 1 — Busca exata por cidade: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Ajustar a API para filtrar WHERE cidade = %s e manter apenas o índice B-Tree em cidade.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Caso 2 — Busca textual com ILIKE '%termo%':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O índice correto no PostgreSQL é o GIN com trigramas (extensão pg_trgm):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CREATE EXTENSION pg_trgm;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CREATE INDEX idx_pessoas_gin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ON pessoas USING gin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   (nome gin_trgm_ops);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10. Pergunta 3: Impacto da Escolha do BD (SQL vs NoSQL)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Como a escolha entre banco relacional e não-relacional afeta o sistema?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33832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Banco Relacional — SQL (Ex: PostgreSQL)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Garante transações ACID e consistência imediata dos dados.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Esquema fixo e padronizado (ótimo para cadastros estruturados).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Sob alta concorrência de escrita, tem custo maior de controle de locks, atualização de índices e log transacional (WAL).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Escalabilidade predominantemente vertical (aumentar CPU/RAM do servidor).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338328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992624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Banco Não-Relacional — NoSQL (Ex: MongoDB, Cassandra)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Focado em alta vazão de escrita e baixa latência sob carga massiva.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Escalabilidade horizontal nativa (distribuir dados em vários servidores / sharding).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Esquema flexível (documentos JSON ou chave-valor).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Geralmente adota consistência eventual (leituras podem não ver uma escrita imediatamente).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00600"/>
            <a:ext cx="11094415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4946904"/>
            <a:ext cx="10692079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F172A"/>
                </a:solidFill>
                <a:latin typeface="Calibri"/>
              </a:defRPr>
            </a:pPr>
            <a:r>
              <a:t>Conclusão para o nosso sistema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Para um CRUD de cadastro de pessoas até centenas de milhares de registros, o PostgreSQL (SQL) é adequado pela integridade dos dados.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Calibri"/>
              </a:defRPr>
            </a:pPr>
            <a:r>
              <a:t>• Caso o sistema precisasse escalar para milhares de escritas por segundo distribuídas em vários nós, um banco NoSQL seria mais indicado.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11. Conclusão e Melhorias Futuras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Síntese dos resultados obtidos e como escalar a arquitetura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Sistemas Distribuídos 1  •  Avaliação de Desempenho CRUD          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rPr dirty="0" err="1"/>
              <a:t>Síntese</a:t>
            </a:r>
            <a:r>
              <a:rPr dirty="0"/>
              <a:t> dos </a:t>
            </a:r>
            <a:r>
              <a:rPr dirty="0" err="1"/>
              <a:t>Resultados</a:t>
            </a: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Vazão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(~107 req/s): O </a:t>
            </a:r>
            <a:r>
              <a:rPr dirty="0" err="1"/>
              <a:t>gargalo</a:t>
            </a:r>
            <a:r>
              <a:rPr dirty="0"/>
              <a:t> principal </a:t>
            </a:r>
            <a:r>
              <a:rPr dirty="0" err="1"/>
              <a:t>foi</a:t>
            </a:r>
            <a:r>
              <a:rPr dirty="0"/>
              <a:t> a </a:t>
            </a:r>
            <a:r>
              <a:rPr dirty="0" err="1"/>
              <a:t>camada</a:t>
            </a:r>
            <a:r>
              <a:rPr dirty="0"/>
              <a:t> de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síncrona</a:t>
            </a:r>
            <a:r>
              <a:rPr dirty="0"/>
              <a:t> </a:t>
            </a:r>
            <a:r>
              <a:rPr dirty="0" err="1"/>
              <a:t>abrindo</a:t>
            </a:r>
            <a:r>
              <a:rPr dirty="0"/>
              <a:t> </a:t>
            </a:r>
            <a:r>
              <a:rPr dirty="0" err="1"/>
              <a:t>conexão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requisição</a:t>
            </a:r>
            <a:r>
              <a:rPr dirty="0"/>
              <a:t>, e </a:t>
            </a:r>
            <a:r>
              <a:rPr dirty="0" err="1"/>
              <a:t>não</a:t>
            </a:r>
            <a:r>
              <a:rPr dirty="0"/>
              <a:t> o </a:t>
            </a:r>
            <a:r>
              <a:rPr dirty="0" err="1"/>
              <a:t>banco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2. Base de 20k </a:t>
            </a:r>
            <a:r>
              <a:rPr dirty="0" err="1"/>
              <a:t>vs</a:t>
            </a:r>
            <a:r>
              <a:rPr dirty="0"/>
              <a:t> 100k: </a:t>
            </a:r>
            <a:r>
              <a:rPr dirty="0" err="1"/>
              <a:t>Reduzir</a:t>
            </a:r>
            <a:r>
              <a:rPr dirty="0"/>
              <a:t> o dataset para 20k </a:t>
            </a:r>
            <a:r>
              <a:rPr dirty="0" err="1"/>
              <a:t>diminuiu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erros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cenários</a:t>
            </a:r>
            <a:r>
              <a:rPr dirty="0"/>
              <a:t> (</a:t>
            </a:r>
            <a:r>
              <a:rPr dirty="0" err="1"/>
              <a:t>caindo</a:t>
            </a:r>
            <a:r>
              <a:rPr dirty="0"/>
              <a:t> para 3,92% no </a:t>
            </a:r>
            <a:r>
              <a:rPr dirty="0" err="1"/>
              <a:t>cenário</a:t>
            </a:r>
            <a:r>
              <a:rPr dirty="0"/>
              <a:t> 25L/75E) </a:t>
            </a:r>
            <a:r>
              <a:rPr dirty="0" err="1"/>
              <a:t>graças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de cache </a:t>
            </a:r>
            <a:r>
              <a:rPr dirty="0" err="1"/>
              <a:t>em</a:t>
            </a:r>
            <a:r>
              <a:rPr dirty="0"/>
              <a:t> RAM.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Índices</a:t>
            </a:r>
            <a:r>
              <a:rPr dirty="0"/>
              <a:t> </a:t>
            </a:r>
            <a:r>
              <a:rPr dirty="0" err="1"/>
              <a:t>precisam</a:t>
            </a:r>
            <a:r>
              <a:rPr dirty="0"/>
              <a:t> </a:t>
            </a:r>
            <a:r>
              <a:rPr dirty="0" err="1"/>
              <a:t>casar</a:t>
            </a:r>
            <a:r>
              <a:rPr dirty="0"/>
              <a:t> com a </a:t>
            </a:r>
            <a:r>
              <a:rPr dirty="0" err="1"/>
              <a:t>consulta</a:t>
            </a:r>
            <a:r>
              <a:rPr dirty="0"/>
              <a:t>: </a:t>
            </a:r>
            <a:r>
              <a:rPr dirty="0" err="1"/>
              <a:t>Índices</a:t>
            </a:r>
            <a:r>
              <a:rPr dirty="0"/>
              <a:t> B-Tree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usados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queries de </a:t>
            </a: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penalizam</a:t>
            </a:r>
            <a:r>
              <a:rPr dirty="0"/>
              <a:t> as </a:t>
            </a:r>
            <a:r>
              <a:rPr dirty="0" err="1"/>
              <a:t>operações</a:t>
            </a:r>
            <a:r>
              <a:rPr dirty="0"/>
              <a:t> de </a:t>
            </a:r>
            <a:r>
              <a:rPr dirty="0" err="1"/>
              <a:t>escrita</a:t>
            </a:r>
            <a:r>
              <a:rPr dirty="0"/>
              <a:t> (INSERT).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80744"/>
            <a:ext cx="4992624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Como Escalar o Sistema na Prática?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1. Pool de Conexões (Connection Pooling):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Usar PgBouncer ou ThreadedConnectionPool para reaproveitar conexões já abertas com o PostgreSQL.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2. Servidor WSGI de Produção: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Substituir o servidor embutido do Flask pelo Gunicorn com múltiplos workers / I/O assíncrono.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3. Alinhamento de Índices e Queries: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Corrigir o filtro de cidade na API ou adotar índice GIN (pg_trgm) para buscas parciais com ILIKE.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4098</TotalTime>
  <Words>2391</Words>
  <Application>Microsoft Office PowerPoint</Application>
  <PresentationFormat>Widescreen</PresentationFormat>
  <Paragraphs>303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WINDOWS 10 PRO</dc:creator>
  <cp:keywords/>
  <dc:description>generated using python-pptx</dc:description>
  <cp:lastModifiedBy>WINDOWS 10 PRO</cp:lastModifiedBy>
  <cp:revision>8</cp:revision>
  <dcterms:created xsi:type="dcterms:W3CDTF">2013-01-27T09:14:16Z</dcterms:created>
  <dcterms:modified xsi:type="dcterms:W3CDTF">2026-10-25T06:59:50Z</dcterms:modified>
  <cp:category/>
</cp:coreProperties>
</file>